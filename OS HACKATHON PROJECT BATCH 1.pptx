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7" d="100"/>
          <a:sy n="47" d="100"/>
        </p:scale>
        <p:origin x="591"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smtClean="0"/>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590D7F4-8501-4F42-B7A4-9A4AE93573C1}" type="datetimeFigureOut">
              <a:rPr lang="en-IN" smtClean="0"/>
              <a:t>17-10-2026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281564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590D7F4-8501-4F42-B7A4-9A4AE93573C1}" type="datetimeFigureOut">
              <a:rPr lang="en-IN" smtClean="0"/>
              <a:t>17-10-2026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2803549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D590D7F4-8501-4F42-B7A4-9A4AE93573C1}" type="datetimeFigureOut">
              <a:rPr lang="en-IN" smtClean="0"/>
              <a:t>17-10-2026</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2AB87B0-410B-45C5-A033-DA0625857F55}" type="slidenum">
              <a:rPr lang="en-IN" smtClean="0"/>
              <a:t>‹#›</a:t>
            </a:fld>
            <a:endParaRPr lang="en-IN"/>
          </a:p>
        </p:txBody>
      </p:sp>
    </p:spTree>
    <p:extLst>
      <p:ext uri="{BB962C8B-B14F-4D97-AF65-F5344CB8AC3E}">
        <p14:creationId xmlns:p14="http://schemas.microsoft.com/office/powerpoint/2010/main" val="363516238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590D7F4-8501-4F42-B7A4-9A4AE93573C1}" type="datetimeFigureOut">
              <a:rPr lang="en-IN" smtClean="0"/>
              <a:t>17-10-2026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645369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590D7F4-8501-4F42-B7A4-9A4AE93573C1}" type="datetimeFigureOut">
              <a:rPr lang="en-IN" smtClean="0"/>
              <a:t>17-10-2026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1032283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590D7F4-8501-4F42-B7A4-9A4AE93573C1}" type="datetimeFigureOut">
              <a:rPr lang="en-IN" smtClean="0"/>
              <a:t>17-10-2026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278208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90D7F4-8501-4F42-B7A4-9A4AE93573C1}" type="datetimeFigureOut">
              <a:rPr lang="en-IN" smtClean="0"/>
              <a:t>17-10-2026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3390165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590D7F4-8501-4F42-B7A4-9A4AE93573C1}" type="datetimeFigureOut">
              <a:rPr lang="en-IN" smtClean="0"/>
              <a:t>17-10-2026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2650433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590D7F4-8501-4F42-B7A4-9A4AE93573C1}" type="datetimeFigureOut">
              <a:rPr lang="en-IN" smtClean="0"/>
              <a:t>17-10-2026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176443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590D7F4-8501-4F42-B7A4-9A4AE93573C1}" type="datetimeFigureOut">
              <a:rPr lang="en-IN" smtClean="0"/>
              <a:t>17-10-2026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1325929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D590D7F4-8501-4F42-B7A4-9A4AE93573C1}" type="datetimeFigureOut">
              <a:rPr lang="en-IN" smtClean="0"/>
              <a:t>17-10-2026</a:t>
            </a:fld>
            <a:endParaRPr lang="en-IN"/>
          </a:p>
        </p:txBody>
      </p:sp>
      <p:sp>
        <p:nvSpPr>
          <p:cNvPr id="5" name="Footer Placeholder 4"/>
          <p:cNvSpPr>
            <a:spLocks noGrp="1"/>
          </p:cNvSpPr>
          <p:nvPr>
            <p:ph type="ftr" sz="quarter" idx="11"/>
          </p:nvPr>
        </p:nvSpPr>
        <p:spPr>
          <a:xfrm>
            <a:off x="3776135" y="6422854"/>
            <a:ext cx="4279669" cy="365125"/>
          </a:xfrm>
        </p:spPr>
        <p:txBody>
          <a:bodyPr/>
          <a:lstStyle/>
          <a:p>
            <a:endParaRPr lang="en-IN"/>
          </a:p>
        </p:txBody>
      </p:sp>
      <p:sp>
        <p:nvSpPr>
          <p:cNvPr id="6" name="Slide Number Placeholder 5"/>
          <p:cNvSpPr>
            <a:spLocks noGrp="1"/>
          </p:cNvSpPr>
          <p:nvPr>
            <p:ph type="sldNum" sz="quarter" idx="12"/>
          </p:nvPr>
        </p:nvSpPr>
        <p:spPr>
          <a:xfrm>
            <a:off x="8073048" y="6422854"/>
            <a:ext cx="879759" cy="365125"/>
          </a:xfrm>
        </p:spPr>
        <p:txBody>
          <a:bodyPr/>
          <a:lstStyle/>
          <a:p>
            <a:fld id="{72AB87B0-410B-45C5-A033-DA0625857F55}" type="slidenum">
              <a:rPr lang="en-IN" smtClean="0"/>
              <a:t>‹#›</a:t>
            </a:fld>
            <a:endParaRPr lang="en-IN"/>
          </a:p>
        </p:txBody>
      </p:sp>
    </p:spTree>
    <p:extLst>
      <p:ext uri="{BB962C8B-B14F-4D97-AF65-F5344CB8AC3E}">
        <p14:creationId xmlns:p14="http://schemas.microsoft.com/office/powerpoint/2010/main" val="905864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D590D7F4-8501-4F42-B7A4-9A4AE93573C1}" type="datetimeFigureOut">
              <a:rPr lang="en-IN" smtClean="0"/>
              <a:t>17-10-2026</a:t>
            </a:fld>
            <a:endParaRPr lang="en-IN"/>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72AB87B0-410B-45C5-A033-DA0625857F55}" type="slidenum">
              <a:rPr lang="en-IN" smtClean="0"/>
              <a:t>‹#›</a:t>
            </a:fld>
            <a:endParaRPr lang="en-IN"/>
          </a:p>
        </p:txBody>
      </p:sp>
    </p:spTree>
    <p:extLst>
      <p:ext uri="{BB962C8B-B14F-4D97-AF65-F5344CB8AC3E}">
        <p14:creationId xmlns:p14="http://schemas.microsoft.com/office/powerpoint/2010/main" val="3887472625"/>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latin typeface="Courier New" panose="02070309020205020404" pitchFamily="49" charset="0"/>
                <a:cs typeface="Courier New" panose="02070309020205020404" pitchFamily="49" charset="0"/>
              </a:rPr>
              <a:t>Linux System Call Tracer</a:t>
            </a:r>
            <a:endParaRPr lang="en-IN" dirty="0">
              <a:latin typeface="Courier New" panose="02070309020205020404" pitchFamily="49" charset="0"/>
              <a:cs typeface="Courier New" panose="02070309020205020404" pitchFamily="49" charset="0"/>
            </a:endParaRPr>
          </a:p>
        </p:txBody>
      </p:sp>
      <p:sp>
        <p:nvSpPr>
          <p:cNvPr id="3" name="Subtitle 2"/>
          <p:cNvSpPr>
            <a:spLocks noGrp="1"/>
          </p:cNvSpPr>
          <p:nvPr>
            <p:ph type="subTitle" idx="1"/>
          </p:nvPr>
        </p:nvSpPr>
        <p:spPr/>
        <p:txBody>
          <a:bodyPr/>
          <a:lstStyle/>
          <a:p>
            <a:r>
              <a:rPr lang="en-IN" dirty="0" smtClean="0">
                <a:latin typeface="Courier New" panose="02070309020205020404" pitchFamily="49" charset="0"/>
                <a:cs typeface="Courier New" panose="02070309020205020404" pitchFamily="49" charset="0"/>
              </a:rPr>
              <a:t>Guided By: </a:t>
            </a:r>
            <a:r>
              <a:rPr lang="en-IN" dirty="0" err="1" smtClean="0">
                <a:latin typeface="Courier New" panose="02070309020205020404" pitchFamily="49" charset="0"/>
                <a:cs typeface="Courier New" panose="02070309020205020404" pitchFamily="49" charset="0"/>
              </a:rPr>
              <a:t>Dr.</a:t>
            </a:r>
            <a:r>
              <a:rPr lang="en-IN" dirty="0" smtClean="0">
                <a:latin typeface="Courier New" panose="02070309020205020404" pitchFamily="49" charset="0"/>
                <a:cs typeface="Courier New" panose="02070309020205020404" pitchFamily="49" charset="0"/>
              </a:rPr>
              <a:t> </a:t>
            </a:r>
            <a:r>
              <a:rPr lang="en-IN" dirty="0" err="1" smtClean="0">
                <a:latin typeface="Courier New" panose="02070309020205020404" pitchFamily="49" charset="0"/>
                <a:cs typeface="Courier New" panose="02070309020205020404" pitchFamily="49" charset="0"/>
              </a:rPr>
              <a:t>Alekhya</a:t>
            </a:r>
            <a:r>
              <a:rPr lang="en-IN" dirty="0" smtClean="0">
                <a:latin typeface="Courier New" panose="02070309020205020404" pitchFamily="49" charset="0"/>
                <a:cs typeface="Courier New" panose="02070309020205020404" pitchFamily="49" charset="0"/>
              </a:rPr>
              <a:t> D</a:t>
            </a:r>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11956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ourier New" panose="02070309020205020404" pitchFamily="49" charset="0"/>
                <a:cs typeface="Courier New" panose="02070309020205020404" pitchFamily="49" charset="0"/>
              </a:rPr>
              <a:t>Problem Statement</a:t>
            </a:r>
            <a:endParaRPr lang="en-IN"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p:txBody>
          <a:bodyPr>
            <a:noAutofit/>
          </a:bodyPr>
          <a:lstStyle/>
          <a:p>
            <a:r>
              <a:rPr lang="en-US" sz="4800" dirty="0" smtClean="0">
                <a:latin typeface="Courier New" panose="02070309020205020404" pitchFamily="49" charset="0"/>
                <a:cs typeface="Courier New" panose="02070309020205020404" pitchFamily="49" charset="0"/>
              </a:rPr>
              <a:t>Develop a utility that monitors, captures, and logs system calls invoked by a selected target process during its execution for analysis and debugging. </a:t>
            </a:r>
            <a:endParaRPr lang="en-IN" sz="4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15929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latin typeface="Courier New" panose="02070309020205020404" pitchFamily="49" charset="0"/>
                <a:cs typeface="Courier New" panose="02070309020205020404" pitchFamily="49" charset="0"/>
              </a:rPr>
              <a:t/>
            </a:r>
            <a:br>
              <a:rPr lang="en-IN" dirty="0" smtClean="0">
                <a:latin typeface="Courier New" panose="02070309020205020404" pitchFamily="49" charset="0"/>
                <a:cs typeface="Courier New" panose="02070309020205020404" pitchFamily="49" charset="0"/>
              </a:rPr>
            </a:br>
            <a:r>
              <a:rPr lang="en-IN" dirty="0" smtClean="0">
                <a:latin typeface="Courier New" panose="02070309020205020404" pitchFamily="49" charset="0"/>
                <a:cs typeface="Courier New" panose="02070309020205020404" pitchFamily="49" charset="0"/>
              </a:rPr>
              <a:t>System Design</a:t>
            </a:r>
            <a:endParaRPr lang="en-IN" dirty="0">
              <a:latin typeface="Courier New" panose="02070309020205020404" pitchFamily="49" charset="0"/>
              <a:cs typeface="Courier New" panose="02070309020205020404" pitchFamily="49" charset="0"/>
            </a:endParaRPr>
          </a:p>
        </p:txBody>
      </p:sp>
      <p:pic>
        <p:nvPicPr>
          <p:cNvPr id="4" name="Content Placeholder 3"/>
          <p:cNvPicPr>
            <a:picLocks noGrp="1" noChangeAspect="1"/>
          </p:cNvPicPr>
          <p:nvPr>
            <p:ph idx="1"/>
          </p:nvPr>
        </p:nvPicPr>
        <p:blipFill>
          <a:blip r:embed="rId2"/>
          <a:stretch>
            <a:fillRect/>
          </a:stretch>
        </p:blipFill>
        <p:spPr>
          <a:xfrm>
            <a:off x="4385456" y="2466963"/>
            <a:ext cx="3419500" cy="3295674"/>
          </a:xfrm>
          <a:prstGeom prst="rect">
            <a:avLst/>
          </a:prstGeom>
        </p:spPr>
      </p:pic>
    </p:spTree>
    <p:extLst>
      <p:ext uri="{BB962C8B-B14F-4D97-AF65-F5344CB8AC3E}">
        <p14:creationId xmlns:p14="http://schemas.microsoft.com/office/powerpoint/2010/main" val="2217630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ourier New" panose="02070309020205020404" pitchFamily="49" charset="0"/>
                <a:cs typeface="Courier New" panose="02070309020205020404" pitchFamily="49" charset="0"/>
              </a:rPr>
              <a:t>Implementation Approach</a:t>
            </a:r>
            <a:endParaRPr lang="en-IN"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p:txBody>
          <a:bodyPr>
            <a:normAutofit/>
          </a:bodyPr>
          <a:lstStyle/>
          <a:p>
            <a:r>
              <a:rPr lang="en-US" dirty="0" smtClean="0">
                <a:latin typeface="Courier New" panose="02070309020205020404" pitchFamily="49" charset="0"/>
                <a:cs typeface="Courier New" panose="02070309020205020404" pitchFamily="49" charset="0"/>
              </a:rPr>
              <a:t>To implement the Linux system call tracer using </a:t>
            </a:r>
            <a:r>
              <a:rPr lang="en-US" dirty="0" err="1" smtClean="0">
                <a:latin typeface="Courier New" panose="02070309020205020404" pitchFamily="49" charset="0"/>
                <a:cs typeface="Courier New" panose="02070309020205020404" pitchFamily="49" charset="0"/>
              </a:rPr>
              <a:t>ptrace</a:t>
            </a:r>
            <a:r>
              <a:rPr lang="en-US" dirty="0" smtClean="0">
                <a:latin typeface="Courier New" panose="02070309020205020404" pitchFamily="49" charset="0"/>
                <a:cs typeface="Courier New" panose="02070309020205020404" pitchFamily="49" charset="0"/>
              </a:rPr>
              <a:t>, spawn or attach to a target process and pause it at every system call boundary using </a:t>
            </a:r>
            <a:r>
              <a:rPr lang="en-US" dirty="0" err="1" smtClean="0">
                <a:latin typeface="Courier New" panose="02070309020205020404" pitchFamily="49" charset="0"/>
                <a:cs typeface="Courier New" panose="02070309020205020404" pitchFamily="49" charset="0"/>
              </a:rPr>
              <a:t>waitpid</a:t>
            </a:r>
            <a:r>
              <a:rPr lang="en-US" dirty="0" smtClean="0">
                <a:latin typeface="Courier New" panose="02070309020205020404" pitchFamily="49" charset="0"/>
                <a:cs typeface="Courier New" panose="02070309020205020404" pitchFamily="49" charset="0"/>
              </a:rPr>
              <a:t> and PTRACE_SYSCALL. Alternate between </a:t>
            </a:r>
            <a:r>
              <a:rPr lang="en-US" dirty="0" err="1" smtClean="0">
                <a:latin typeface="Courier New" panose="02070309020205020404" pitchFamily="49" charset="0"/>
                <a:cs typeface="Courier New" panose="02070309020205020404" pitchFamily="49" charset="0"/>
              </a:rPr>
              <a:t>syscall</a:t>
            </a:r>
            <a:r>
              <a:rPr lang="en-US" dirty="0" smtClean="0">
                <a:latin typeface="Courier New" panose="02070309020205020404" pitchFamily="49" charset="0"/>
                <a:cs typeface="Courier New" panose="02070309020205020404" pitchFamily="49" charset="0"/>
              </a:rPr>
              <a:t> entry and exit stops to read CPU registers via PTRACE_GETREGS, extracting the system call number from </a:t>
            </a:r>
            <a:r>
              <a:rPr lang="en-US" dirty="0" err="1" smtClean="0">
                <a:latin typeface="Courier New" panose="02070309020205020404" pitchFamily="49" charset="0"/>
                <a:cs typeface="Courier New" panose="02070309020205020404" pitchFamily="49" charset="0"/>
              </a:rPr>
              <a:t>orig_rax</a:t>
            </a:r>
            <a:r>
              <a:rPr lang="en-US" dirty="0" smtClean="0">
                <a:latin typeface="Courier New" panose="02070309020205020404" pitchFamily="49" charset="0"/>
                <a:cs typeface="Courier New" panose="02070309020205020404" pitchFamily="49" charset="0"/>
              </a:rPr>
              <a:t>, arguments from </a:t>
            </a:r>
            <a:r>
              <a:rPr lang="en-US" dirty="0" err="1" smtClean="0">
                <a:latin typeface="Courier New" panose="02070309020205020404" pitchFamily="49" charset="0"/>
                <a:cs typeface="Courier New" panose="02070309020205020404" pitchFamily="49" charset="0"/>
              </a:rPr>
              <a:t>rdi</a:t>
            </a:r>
            <a:r>
              <a:rPr lang="en-US" dirty="0" smtClean="0">
                <a:latin typeface="Courier New" panose="02070309020205020404" pitchFamily="49" charset="0"/>
                <a:cs typeface="Courier New" panose="02070309020205020404" pitchFamily="49" charset="0"/>
              </a:rPr>
              <a:t> through r9, and return values from </a:t>
            </a:r>
            <a:r>
              <a:rPr lang="en-US" dirty="0" err="1" smtClean="0">
                <a:latin typeface="Courier New" panose="02070309020205020404" pitchFamily="49" charset="0"/>
                <a:cs typeface="Courier New" panose="02070309020205020404" pitchFamily="49" charset="0"/>
              </a:rPr>
              <a:t>rax</a:t>
            </a:r>
            <a:r>
              <a:rPr lang="en-US" dirty="0" smtClean="0">
                <a:latin typeface="Courier New" panose="02070309020205020404" pitchFamily="49" charset="0"/>
                <a:cs typeface="Courier New" panose="02070309020205020404" pitchFamily="49" charset="0"/>
              </a:rPr>
              <a:t>. Use PTRACE_PEEKDATA to read memory addresses such as path strings from the target process space, translate the system call numbers and error return codes into readable names and error messages, format the intercepted details, and continuously stream the decoded output to </a:t>
            </a:r>
            <a:r>
              <a:rPr lang="en-US" dirty="0" err="1" smtClean="0">
                <a:latin typeface="Courier New" panose="02070309020205020404" pitchFamily="49" charset="0"/>
                <a:cs typeface="Courier New" panose="02070309020205020404" pitchFamily="49" charset="0"/>
              </a:rPr>
              <a:t>stdout</a:t>
            </a:r>
            <a:r>
              <a:rPr lang="en-US" dirty="0" smtClean="0">
                <a:latin typeface="Courier New" panose="02070309020205020404" pitchFamily="49" charset="0"/>
                <a:cs typeface="Courier New" panose="02070309020205020404" pitchFamily="49" charset="0"/>
              </a:rPr>
              <a:t> or a designated log file.</a:t>
            </a:r>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82123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ourier New" panose="02070309020205020404" pitchFamily="49" charset="0"/>
                <a:cs typeface="Courier New" panose="02070309020205020404" pitchFamily="49" charset="0"/>
              </a:rPr>
              <a:t>Technologies Used</a:t>
            </a:r>
            <a:endParaRPr lang="en-IN"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p:txBody>
          <a:bodyPr>
            <a:noAutofit/>
          </a:bodyPr>
          <a:lstStyle/>
          <a:p>
            <a:r>
              <a:rPr lang="en-US" dirty="0" smtClean="0">
                <a:latin typeface="Courier New" panose="02070309020205020404" pitchFamily="49" charset="0"/>
                <a:cs typeface="Courier New" panose="02070309020205020404" pitchFamily="49" charset="0"/>
              </a:rPr>
              <a:t>The primary technologies used to build a Linux system call tracer include C or C++ for low-level memory control, the Linux </a:t>
            </a:r>
            <a:r>
              <a:rPr lang="en-US" dirty="0" err="1" smtClean="0">
                <a:latin typeface="Courier New" panose="02070309020205020404" pitchFamily="49" charset="0"/>
                <a:cs typeface="Courier New" panose="02070309020205020404" pitchFamily="49" charset="0"/>
              </a:rPr>
              <a:t>ptrace</a:t>
            </a:r>
            <a:r>
              <a:rPr lang="en-US" dirty="0" smtClean="0">
                <a:latin typeface="Courier New" panose="02070309020205020404" pitchFamily="49" charset="0"/>
                <a:cs typeface="Courier New" panose="02070309020205020404" pitchFamily="49" charset="0"/>
              </a:rPr>
              <a:t> API for process interception, Linux system headers like sys/</a:t>
            </a:r>
            <a:r>
              <a:rPr lang="en-US" dirty="0" err="1" smtClean="0">
                <a:latin typeface="Courier New" panose="02070309020205020404" pitchFamily="49" charset="0"/>
                <a:cs typeface="Courier New" panose="02070309020205020404" pitchFamily="49" charset="0"/>
              </a:rPr>
              <a:t>ptrace.h</a:t>
            </a:r>
            <a:r>
              <a:rPr lang="en-US" dirty="0" smtClean="0">
                <a:latin typeface="Courier New" panose="02070309020205020404" pitchFamily="49" charset="0"/>
                <a:cs typeface="Courier New" panose="02070309020205020404" pitchFamily="49" charset="0"/>
              </a:rPr>
              <a:t> and sys/</a:t>
            </a:r>
            <a:r>
              <a:rPr lang="en-US" dirty="0" err="1" smtClean="0">
                <a:latin typeface="Courier New" panose="02070309020205020404" pitchFamily="49" charset="0"/>
                <a:cs typeface="Courier New" panose="02070309020205020404" pitchFamily="49" charset="0"/>
              </a:rPr>
              <a:t>user.h</a:t>
            </a:r>
            <a:r>
              <a:rPr lang="en-US" dirty="0" smtClean="0">
                <a:latin typeface="Courier New" panose="02070309020205020404" pitchFamily="49" charset="0"/>
                <a:cs typeface="Courier New" panose="02070309020205020404" pitchFamily="49" charset="0"/>
              </a:rPr>
              <a:t>, the </a:t>
            </a:r>
            <a:r>
              <a:rPr lang="en-US" dirty="0" err="1" smtClean="0">
                <a:latin typeface="Courier New" panose="02070309020205020404" pitchFamily="49" charset="0"/>
                <a:cs typeface="Courier New" panose="02070309020205020404" pitchFamily="49" charset="0"/>
              </a:rPr>
              <a:t>proc</a:t>
            </a: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filesystem</a:t>
            </a:r>
            <a:r>
              <a:rPr lang="en-US" dirty="0" smtClean="0">
                <a:latin typeface="Courier New" panose="02070309020205020404" pitchFamily="49" charset="0"/>
                <a:cs typeface="Courier New" panose="02070309020205020404" pitchFamily="49" charset="0"/>
              </a:rPr>
              <a:t> for direct process memory access, </a:t>
            </a:r>
            <a:r>
              <a:rPr lang="en-US" dirty="0" err="1" smtClean="0">
                <a:latin typeface="Courier New" panose="02070309020205020404" pitchFamily="49" charset="0"/>
                <a:cs typeface="Courier New" panose="02070309020205020404" pitchFamily="49" charset="0"/>
              </a:rPr>
              <a:t>eBPF</a:t>
            </a:r>
            <a:r>
              <a:rPr lang="en-US" dirty="0" smtClean="0">
                <a:latin typeface="Courier New" panose="02070309020205020404" pitchFamily="49" charset="0"/>
                <a:cs typeface="Courier New" panose="02070309020205020404" pitchFamily="49" charset="0"/>
              </a:rPr>
              <a:t> with </a:t>
            </a:r>
            <a:r>
              <a:rPr lang="en-US" dirty="0" err="1" smtClean="0">
                <a:latin typeface="Courier New" panose="02070309020205020404" pitchFamily="49" charset="0"/>
                <a:cs typeface="Courier New" panose="02070309020205020404" pitchFamily="49" charset="0"/>
              </a:rPr>
              <a:t>libbpf</a:t>
            </a:r>
            <a:r>
              <a:rPr lang="en-US" dirty="0" smtClean="0">
                <a:latin typeface="Courier New" panose="02070309020205020404" pitchFamily="49" charset="0"/>
                <a:cs typeface="Courier New" panose="02070309020205020404" pitchFamily="49" charset="0"/>
              </a:rPr>
              <a:t> for high-performance tracing alternative, GCC or Clang for compilation, Make or </a:t>
            </a:r>
            <a:r>
              <a:rPr lang="en-US" dirty="0" err="1" smtClean="0">
                <a:latin typeface="Courier New" panose="02070309020205020404" pitchFamily="49" charset="0"/>
                <a:cs typeface="Courier New" panose="02070309020205020404" pitchFamily="49" charset="0"/>
              </a:rPr>
              <a:t>CMake</a:t>
            </a:r>
            <a:r>
              <a:rPr lang="en-US" dirty="0" smtClean="0">
                <a:latin typeface="Courier New" panose="02070309020205020404" pitchFamily="49" charset="0"/>
                <a:cs typeface="Courier New" panose="02070309020205020404" pitchFamily="49" charset="0"/>
              </a:rPr>
              <a:t> for build automation, and optionally </a:t>
            </a:r>
            <a:r>
              <a:rPr lang="en-US" dirty="0" err="1" smtClean="0">
                <a:latin typeface="Courier New" panose="02070309020205020404" pitchFamily="49" charset="0"/>
                <a:cs typeface="Courier New" panose="02070309020205020404" pitchFamily="49" charset="0"/>
              </a:rPr>
              <a:t>cJSON</a:t>
            </a:r>
            <a:r>
              <a:rPr lang="en-US" dirty="0" smtClean="0">
                <a:latin typeface="Courier New" panose="02070309020205020404" pitchFamily="49" charset="0"/>
                <a:cs typeface="Courier New" panose="02070309020205020404" pitchFamily="49" charset="0"/>
              </a:rPr>
              <a:t> or </a:t>
            </a:r>
            <a:r>
              <a:rPr lang="en-US" dirty="0" err="1" smtClean="0">
                <a:latin typeface="Courier New" panose="02070309020205020404" pitchFamily="49" charset="0"/>
                <a:cs typeface="Courier New" panose="02070309020205020404" pitchFamily="49" charset="0"/>
              </a:rPr>
              <a:t>libjson</a:t>
            </a:r>
            <a:r>
              <a:rPr lang="en-US" dirty="0" smtClean="0">
                <a:latin typeface="Courier New" panose="02070309020205020404" pitchFamily="49" charset="0"/>
                <a:cs typeface="Courier New" panose="02070309020205020404" pitchFamily="49" charset="0"/>
              </a:rPr>
              <a:t>-c for structured logging output.</a:t>
            </a:r>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2301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ourier New" panose="02070309020205020404" pitchFamily="49" charset="0"/>
                <a:cs typeface="Courier New" panose="02070309020205020404" pitchFamily="49" charset="0"/>
              </a:rPr>
              <a:t>Testing</a:t>
            </a:r>
            <a:endParaRPr lang="en-IN"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p:txBody>
          <a:bodyPr>
            <a:normAutofit/>
          </a:bodyPr>
          <a:lstStyle/>
          <a:p>
            <a:r>
              <a:rPr lang="en-US" dirty="0" smtClean="0">
                <a:latin typeface="Courier New" panose="02070309020205020404" pitchFamily="49" charset="0"/>
                <a:cs typeface="Courier New" panose="02070309020205020404" pitchFamily="49" charset="0"/>
              </a:rPr>
              <a:t>Testing the tracer involves running synthetic C binaries with known system call sequences like open, read, write, and exit to verify argument accuracy. Compare output directly against standard </a:t>
            </a:r>
            <a:r>
              <a:rPr lang="en-US" dirty="0" err="1" smtClean="0">
                <a:latin typeface="Courier New" panose="02070309020205020404" pitchFamily="49" charset="0"/>
                <a:cs typeface="Courier New" panose="02070309020205020404" pitchFamily="49" charset="0"/>
              </a:rPr>
              <a:t>strace</a:t>
            </a:r>
            <a:r>
              <a:rPr lang="en-US" dirty="0" smtClean="0">
                <a:latin typeface="Courier New" panose="02070309020205020404" pitchFamily="49" charset="0"/>
                <a:cs typeface="Courier New" panose="02070309020205020404" pitchFamily="49" charset="0"/>
              </a:rPr>
              <a:t> execution logs for identical commands to validate system call accuracy. Test process handling using fork, </a:t>
            </a:r>
            <a:r>
              <a:rPr lang="en-US" dirty="0" err="1" smtClean="0">
                <a:latin typeface="Courier New" panose="02070309020205020404" pitchFamily="49" charset="0"/>
                <a:cs typeface="Courier New" panose="02070309020205020404" pitchFamily="49" charset="0"/>
              </a:rPr>
              <a:t>execve</a:t>
            </a:r>
            <a:r>
              <a:rPr lang="en-US" dirty="0" smtClean="0">
                <a:latin typeface="Courier New" panose="02070309020205020404" pitchFamily="49" charset="0"/>
                <a:cs typeface="Courier New" panose="02070309020205020404" pitchFamily="49" charset="0"/>
              </a:rPr>
              <a:t>, and clone to confirm multi-process tracking, trigger failing calls to verify negative error code decoding, and send signals such as SIGINT or SIGSTOP to ensure clean process termination without deadlocks or orphans.</a:t>
            </a:r>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77897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ourier New" panose="02070309020205020404" pitchFamily="49" charset="0"/>
                <a:cs typeface="Courier New" panose="02070309020205020404" pitchFamily="49" charset="0"/>
              </a:rPr>
              <a:t>Results</a:t>
            </a:r>
            <a:endParaRPr lang="en-IN"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p:txBody>
          <a:bodyPr/>
          <a:lstStyle/>
          <a:p>
            <a:r>
              <a:rPr lang="en-US" dirty="0" smtClean="0">
                <a:latin typeface="Courier New" panose="02070309020205020404" pitchFamily="49" charset="0"/>
                <a:cs typeface="Courier New" panose="02070309020205020404" pitchFamily="49" charset="0"/>
              </a:rPr>
              <a:t>The tracer results demonstrate real-time event capture with accurate parameter decoding, exact path string extraction, and precise error code mapping. Comparative benchmarking against </a:t>
            </a:r>
            <a:r>
              <a:rPr lang="en-US" dirty="0" err="1" smtClean="0">
                <a:latin typeface="Courier New" panose="02070309020205020404" pitchFamily="49" charset="0"/>
                <a:cs typeface="Courier New" panose="02070309020205020404" pitchFamily="49" charset="0"/>
              </a:rPr>
              <a:t>strace</a:t>
            </a:r>
            <a:r>
              <a:rPr lang="en-US" dirty="0" smtClean="0">
                <a:latin typeface="Courier New" panose="02070309020205020404" pitchFamily="49" charset="0"/>
                <a:cs typeface="Courier New" panose="02070309020205020404" pitchFamily="49" charset="0"/>
              </a:rPr>
              <a:t> shows minimal CPU overhead and low execution latency impact on monitored targets. Process tracking reliably follows fork, </a:t>
            </a:r>
            <a:r>
              <a:rPr lang="en-US" dirty="0" err="1" smtClean="0">
                <a:latin typeface="Courier New" panose="02070309020205020404" pitchFamily="49" charset="0"/>
                <a:cs typeface="Courier New" panose="02070309020205020404" pitchFamily="49" charset="0"/>
              </a:rPr>
              <a:t>execve</a:t>
            </a:r>
            <a:r>
              <a:rPr lang="en-US" dirty="0" smtClean="0">
                <a:latin typeface="Courier New" panose="02070309020205020404" pitchFamily="49" charset="0"/>
                <a:cs typeface="Courier New" panose="02070309020205020404" pitchFamily="49" charset="0"/>
              </a:rPr>
              <a:t>, and multithreaded transitions without losing context, while signal interception manages process interruptions and terminations cleanly without leaks.</a:t>
            </a:r>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00352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Courier New" panose="02070309020205020404" pitchFamily="49" charset="0"/>
                <a:cs typeface="Courier New" panose="02070309020205020404" pitchFamily="49" charset="0"/>
              </a:rPr>
              <a:t>Impact</a:t>
            </a:r>
            <a:endParaRPr lang="en-IN"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p:txBody>
          <a:bodyPr/>
          <a:lstStyle/>
          <a:p>
            <a:r>
              <a:rPr lang="en-US" dirty="0" smtClean="0">
                <a:latin typeface="Courier New" panose="02070309020205020404" pitchFamily="49" charset="0"/>
                <a:cs typeface="Courier New" panose="02070309020205020404" pitchFamily="49" charset="0"/>
              </a:rPr>
              <a:t>The impact of the Linux System Call Tracer includes providing clear visibility into application behavior, reducing debugging time for complex kernel-level interactions, and improving security auditing by flagging unauthorized or suspicious process activity. It provides developers and administrators with a lightweight, precise tool for diagnosing runtime crashes, resource leaks, and system bottleneck issues without requiring source code access or heavy binary instrumentation.</a:t>
            </a:r>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180327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TM03090430[[fn=Banded]]</Template>
  <TotalTime>25</TotalTime>
  <Words>461</Words>
  <Application>Microsoft Office PowerPoint</Application>
  <PresentationFormat>Widescreen</PresentationFormat>
  <Paragraphs>15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Corbel</vt:lpstr>
      <vt:lpstr>Courier New</vt:lpstr>
      <vt:lpstr>Wingdings</vt:lpstr>
      <vt:lpstr>Banded</vt:lpstr>
      <vt:lpstr>Linux System Call Tracer</vt:lpstr>
      <vt:lpstr>Problem Statement</vt:lpstr>
      <vt:lpstr> System Design</vt:lpstr>
      <vt:lpstr>Implementation Approach</vt:lpstr>
      <vt:lpstr>Technologies Used</vt:lpstr>
      <vt:lpstr>Testing</vt:lpstr>
      <vt:lpstr>Results</vt:lpstr>
      <vt:lpstr>Impact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Sairohit</dc:creator>
  <cp:lastModifiedBy>Sairohit</cp:lastModifiedBy>
  <cp:revision>4</cp:revision>
  <dcterms:created xsi:type="dcterms:W3CDTF">2026-10-17T02:35:06Z</dcterms:created>
  <dcterms:modified xsi:type="dcterms:W3CDTF">2026-10-17T04:35:54Z</dcterms:modified>
</cp:coreProperties>
</file>